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5"/>
  </p:sldMasterIdLst>
  <p:sldIdLst>
    <p:sldId id="256" r:id="rId6"/>
    <p:sldId id="257" r:id="rId7"/>
    <p:sldId id="258" r:id="rId8"/>
    <p:sldId id="271" r:id="rId9"/>
    <p:sldId id="272" r:id="rId10"/>
    <p:sldId id="273" r:id="rId11"/>
    <p:sldId id="274" r:id="rId12"/>
    <p:sldId id="275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72B4"/>
    <a:srgbClr val="FEBF3E"/>
    <a:srgbClr val="0B4DC7"/>
    <a:srgbClr val="EF413D"/>
    <a:srgbClr val="F68B28"/>
    <a:srgbClr val="00DDA5"/>
    <a:srgbClr val="3EB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0F03C4-3A8C-4FCE-B447-DE322F736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41" y="3840479"/>
            <a:ext cx="5560609" cy="2602231"/>
          </a:xfrm>
          <a:prstGeom prst="rect">
            <a:avLst/>
          </a:prstGeom>
        </p:spPr>
        <p:txBody>
          <a:bodyPr anchor="b"/>
          <a:lstStyle>
            <a:lvl1pPr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Presentation name goes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287D86-E9E5-4E8F-92D7-9490F21B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0688" y="3573780"/>
            <a:ext cx="1925637" cy="2666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noProof="0" dirty="0"/>
              <a:t>Name Surname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2E5E2C2-ED9C-4B14-BD16-5C88B86E54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53892" y="6176327"/>
            <a:ext cx="1750579" cy="26638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6285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A1389F8-9C8C-43D8-A1BE-8E81D7D001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1622" y="365126"/>
            <a:ext cx="4483280" cy="1019058"/>
          </a:xfrm>
          <a:prstGeom prst="rect">
            <a:avLst/>
          </a:prstGeom>
        </p:spPr>
        <p:txBody>
          <a:bodyPr anchor="ctr">
            <a:normAutofit fontScale="90000"/>
          </a:bodyPr>
          <a:lstStyle>
            <a:lvl1pPr>
              <a:defRPr b="0" baseline="0">
                <a:solidFill>
                  <a:schemeClr val="tx1"/>
                </a:solidFill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F1CD5A-CEDC-492D-AA05-893AEFDC298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71622" y="2344318"/>
            <a:ext cx="11048758" cy="38326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sz="1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0E12C56-23FB-44A3-BEC6-73300A5A86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620" y="6176960"/>
            <a:ext cx="2396177" cy="6810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Presentation name goes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E5FAA83-A8DF-44A4-BFC5-70A3F33FB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24203" y="6176960"/>
            <a:ext cx="2396177" cy="681039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800" noProof="0" dirty="0"/>
              <a:t>Date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59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1DE040-DE2B-41C7-AF8E-B17187AA040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71622" y="2344318"/>
            <a:ext cx="4483280" cy="38326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sz="1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D229D56-4D34-4E92-B08C-499915E615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176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13C218B-CACD-4BF1-8C5D-05BC5CFF4A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1622" y="365126"/>
            <a:ext cx="4483280" cy="1019058"/>
          </a:xfrm>
          <a:prstGeom prst="rect">
            <a:avLst/>
          </a:prstGeom>
        </p:spPr>
        <p:txBody>
          <a:bodyPr anchor="ctr">
            <a:normAutofit fontScale="90000"/>
          </a:bodyPr>
          <a:lstStyle>
            <a:lvl1pPr>
              <a:defRPr b="0" baseline="0">
                <a:solidFill>
                  <a:schemeClr val="tx1"/>
                </a:solidFill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3553403A-EB7C-4A11-849E-99EBB2C932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620" y="6176960"/>
            <a:ext cx="2396177" cy="68103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Presentation name goes here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9417CA9-0B2A-45BB-B815-09173918F6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4203" y="6176960"/>
            <a:ext cx="2396177" cy="681039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800" noProof="0" dirty="0"/>
              <a:t>Date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56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24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B63F-04C8-4BBF-B7CA-5F4E22EE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R-CNN</a:t>
            </a:r>
            <a:br>
              <a:rPr lang="en-US" dirty="0"/>
            </a:br>
            <a:r>
              <a:rPr lang="en-US" dirty="0"/>
              <a:t>Object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F8A5E-A664-4014-81AA-4A5DCCD4D0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027" y="3573780"/>
            <a:ext cx="2382897" cy="266699"/>
          </a:xfrm>
        </p:spPr>
        <p:txBody>
          <a:bodyPr/>
          <a:lstStyle/>
          <a:p>
            <a:r>
              <a:rPr lang="en-US" sz="1600" dirty="0"/>
              <a:t>Ozan Berk Gultegin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3EACE-0BF9-419F-9E4A-33E9678098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29449" y="6176327"/>
            <a:ext cx="1750579" cy="266383"/>
          </a:xfrm>
        </p:spPr>
        <p:txBody>
          <a:bodyPr/>
          <a:lstStyle/>
          <a:p>
            <a:r>
              <a:rPr lang="en-US" dirty="0"/>
              <a:t>2025 – 12 – 08 </a:t>
            </a:r>
          </a:p>
        </p:txBody>
      </p:sp>
    </p:spTree>
    <p:extLst>
      <p:ext uri="{BB962C8B-B14F-4D97-AF65-F5344CB8AC3E}">
        <p14:creationId xmlns:p14="http://schemas.microsoft.com/office/powerpoint/2010/main" val="275666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4691" y="363838"/>
            <a:ext cx="5110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Background: Traditional Detectors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4691" y="2558163"/>
            <a:ext cx="6818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Dense detectors: </a:t>
            </a:r>
            <a:r>
              <a:rPr lang="en-US" sz="1400" b="1" dirty="0" err="1"/>
              <a:t>RetinaNet</a:t>
            </a:r>
            <a:r>
              <a:rPr lang="en-US" sz="1400" b="1" dirty="0"/>
              <a:t>, YOLO,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Dense-to-sparse: Faster R-CNN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Pain Points: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Anchor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RPN heuristics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Label assignment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Redundant boxes -&gt; Need for NMS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7B226B-C3AA-6EB3-B2F8-782292F97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476" y="2558163"/>
            <a:ext cx="7934139" cy="203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24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4691" y="242833"/>
            <a:ext cx="553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What is Sparse R-CNN?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C47FF4-C246-213B-AFCF-7474F94CF1FA}"/>
              </a:ext>
            </a:extLst>
          </p:cNvPr>
          <p:cNvSpPr txBox="1"/>
          <p:nvPr/>
        </p:nvSpPr>
        <p:spPr>
          <a:xfrm>
            <a:off x="174691" y="1965534"/>
            <a:ext cx="6818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 learnable initial proposals (100 - 300)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No anchors, no RPN, no NMS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Backbone + Dynamic 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Iterative refinement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0DD8EE-11FB-1425-1E6D-014D00C3B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488" y="1186658"/>
            <a:ext cx="6323246" cy="405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4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780A5-AB40-AA0D-09AD-048C9E70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ED3319-BC4B-8277-DECC-69DA7D06B484}"/>
              </a:ext>
            </a:extLst>
          </p:cNvPr>
          <p:cNvSpPr txBox="1"/>
          <p:nvPr/>
        </p:nvSpPr>
        <p:spPr>
          <a:xfrm>
            <a:off x="174691" y="294743"/>
            <a:ext cx="5530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Learnable Proposal Boxes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8651A-808B-9208-12E7-5056F6C5217C}"/>
              </a:ext>
            </a:extLst>
          </p:cNvPr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443141-0D86-0DB4-9D13-51E7F3EB6CF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1E0072-79EF-2F0F-A582-09D46F11E234}"/>
              </a:ext>
            </a:extLst>
          </p:cNvPr>
          <p:cNvSpPr txBox="1"/>
          <p:nvPr/>
        </p:nvSpPr>
        <p:spPr>
          <a:xfrm>
            <a:off x="174691" y="1965534"/>
            <a:ext cx="68183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Proposals = learned parameters (N x 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Represent center, width, height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Random initialization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Cover the full image after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No anchor design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B73A5-C577-119B-9C70-03F6E8E05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97" y="1247092"/>
            <a:ext cx="7769042" cy="456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9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DE2AD-0402-3668-05EA-982D523C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C7D146-FE60-32CA-E7E5-B687EA41FEBA}"/>
              </a:ext>
            </a:extLst>
          </p:cNvPr>
          <p:cNvSpPr txBox="1"/>
          <p:nvPr/>
        </p:nvSpPr>
        <p:spPr>
          <a:xfrm>
            <a:off x="174691" y="211208"/>
            <a:ext cx="5530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Proposal Features</a:t>
            </a:r>
          </a:p>
          <a:p>
            <a:r>
              <a:rPr lang="en-US" sz="3600" b="1" dirty="0">
                <a:solidFill>
                  <a:srgbClr val="0B4DC7"/>
                </a:solidFill>
              </a:rPr>
              <a:t>&amp; </a:t>
            </a:r>
          </a:p>
          <a:p>
            <a:r>
              <a:rPr lang="en-US" sz="3600" b="1" dirty="0">
                <a:solidFill>
                  <a:srgbClr val="0B4DC7"/>
                </a:solidFill>
              </a:rPr>
              <a:t>Dynamic Instance Head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13E94-E897-8768-0412-23466E9B26D8}"/>
              </a:ext>
            </a:extLst>
          </p:cNvPr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A00BC5-335F-1517-5260-3C9847F6DBF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C29FBA-C18E-FBE2-79EE-5435055D2F05}"/>
              </a:ext>
            </a:extLst>
          </p:cNvPr>
          <p:cNvSpPr txBox="1"/>
          <p:nvPr/>
        </p:nvSpPr>
        <p:spPr>
          <a:xfrm>
            <a:off x="174691" y="2521058"/>
            <a:ext cx="68183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Each proposal has a feature vector (N x 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Head is dynamically generated from proposal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Allows for per-instance specialization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More flexible than static shared heads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DBB22-9A12-D42B-3BB1-48D9C7935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096" y="1248646"/>
            <a:ext cx="5688244" cy="43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88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12D57-CBD7-108A-91D0-18389E8E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A041AC-97E2-C084-7BE1-A0D09B4E459E}"/>
              </a:ext>
            </a:extLst>
          </p:cNvPr>
          <p:cNvSpPr txBox="1"/>
          <p:nvPr/>
        </p:nvSpPr>
        <p:spPr>
          <a:xfrm>
            <a:off x="174691" y="211208"/>
            <a:ext cx="5530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Iterative Refinement Architecture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E6FDB-0791-9817-A5A0-17EA1671A5AB}"/>
              </a:ext>
            </a:extLst>
          </p:cNvPr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E2B6C0-7F54-91F0-50B9-FB40AF4E109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ACB19D-0B14-7537-0CAA-75B525C45E55}"/>
              </a:ext>
            </a:extLst>
          </p:cNvPr>
          <p:cNvSpPr txBox="1"/>
          <p:nvPr/>
        </p:nvSpPr>
        <p:spPr>
          <a:xfrm>
            <a:off x="174691" y="1965534"/>
            <a:ext cx="68183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6 refinement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Each stage updates boxes +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Uses self-attention for cross-proposal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Reuse of features gives major accuracy gains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7EA9CA-B360-2B3D-6533-0DFA888AF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023" y="743053"/>
            <a:ext cx="2192321" cy="4926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06143A-9C0A-47AB-0C71-ECE62C43C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398" y="743053"/>
            <a:ext cx="2205282" cy="4926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28642D-55AF-60F9-7306-EBC34406B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696" y="3781416"/>
            <a:ext cx="3791920" cy="243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4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1F2B1-F094-7F24-E048-C4D335A2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36C5FD-97DC-15A8-C5C3-3626C11AC162}"/>
              </a:ext>
            </a:extLst>
          </p:cNvPr>
          <p:cNvSpPr txBox="1"/>
          <p:nvPr/>
        </p:nvSpPr>
        <p:spPr>
          <a:xfrm>
            <a:off x="174691" y="211208"/>
            <a:ext cx="553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Training &amp;Losses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0EDEB-D134-709B-0307-41A794D080B3}"/>
              </a:ext>
            </a:extLst>
          </p:cNvPr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BB47924-388A-06C8-7A57-12EFFC98DEE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DF13AF-DF91-614E-F401-142867BEBE6E}"/>
              </a:ext>
            </a:extLst>
          </p:cNvPr>
          <p:cNvSpPr txBox="1"/>
          <p:nvPr/>
        </p:nvSpPr>
        <p:spPr>
          <a:xfrm>
            <a:off x="174691" y="1965534"/>
            <a:ext cx="68183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Set prediction loss (Hungarian matching)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Losses: classification, L1, </a:t>
            </a:r>
            <a:r>
              <a:rPr lang="en-US" sz="1400" b="1" dirty="0" err="1"/>
              <a:t>GIoU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Trained for 36 epochs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Backbone: </a:t>
            </a:r>
            <a:r>
              <a:rPr lang="en-US" sz="1400" b="1" dirty="0" err="1"/>
              <a:t>ResNet</a:t>
            </a:r>
            <a:r>
              <a:rPr lang="en-US" sz="1400" b="1" dirty="0"/>
              <a:t> – 50/101 FPN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Inference: Directly output 100 boxes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EEDC2D-5950-828F-7E0D-F52A796CD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096" y="2707865"/>
            <a:ext cx="5239481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5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588AA-C09D-A744-9681-CB2E41F76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F1C3E6-6158-7271-8CEA-41A4ECDA0674}"/>
              </a:ext>
            </a:extLst>
          </p:cNvPr>
          <p:cNvSpPr txBox="1"/>
          <p:nvPr/>
        </p:nvSpPr>
        <p:spPr>
          <a:xfrm>
            <a:off x="174691" y="211208"/>
            <a:ext cx="5530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Results:</a:t>
            </a:r>
          </a:p>
          <a:p>
            <a:r>
              <a:rPr lang="en-US" sz="3600" b="1" dirty="0">
                <a:solidFill>
                  <a:srgbClr val="0B4DC7"/>
                </a:solidFill>
              </a:rPr>
              <a:t>Accuracy &amp; Efficiency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BBE24-6F91-9094-AB66-EB5DC09B62B3}"/>
              </a:ext>
            </a:extLst>
          </p:cNvPr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618079-0ABB-8E5A-793D-780657B39F3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72A2EB-5D36-B546-4A65-44349D0C1BE0}"/>
              </a:ext>
            </a:extLst>
          </p:cNvPr>
          <p:cNvSpPr txBox="1"/>
          <p:nvPr/>
        </p:nvSpPr>
        <p:spPr>
          <a:xfrm>
            <a:off x="174691" y="1965534"/>
            <a:ext cx="68183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Competitive AP on COCO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Converges 10x faster than DETR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On par with Faster R-CNN / </a:t>
            </a:r>
            <a:r>
              <a:rPr lang="en-US" sz="1400" b="1" dirty="0" err="1"/>
              <a:t>RetinaNet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Runs at ~ 22-23 FPS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46086-FE9A-9F0E-FAF5-A2A56570B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967" y="1521636"/>
            <a:ext cx="6444767" cy="408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65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98CA6-7AB0-831E-DBD7-844B4E59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C9873B-812F-74BE-7DCD-D6C2250424DE}"/>
              </a:ext>
            </a:extLst>
          </p:cNvPr>
          <p:cNvSpPr txBox="1"/>
          <p:nvPr/>
        </p:nvSpPr>
        <p:spPr>
          <a:xfrm>
            <a:off x="174691" y="211208"/>
            <a:ext cx="714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Ablation Studies &amp; Key Insights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62934-71B7-2B09-D0A4-88B402037C6A}"/>
              </a:ext>
            </a:extLst>
          </p:cNvPr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C938A14-F56C-B5E4-9342-CA8E210B94F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22E6AE-E722-A0C4-A335-FEDFA4A08115}"/>
              </a:ext>
            </a:extLst>
          </p:cNvPr>
          <p:cNvSpPr txBox="1"/>
          <p:nvPr/>
        </p:nvSpPr>
        <p:spPr>
          <a:xfrm>
            <a:off x="174691" y="1965534"/>
            <a:ext cx="68183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Proposal count: 100 -&gt; 300 -&gt; 500 improves 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Initialization: random, grid, centered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Dynamic head &gt; multi-head attention (improves by +6.6 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Iterative stages 2 -&gt; 6 improves AP dramatically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50A1B-B52D-A2BC-9E9F-BCEEF9F6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835" y="883172"/>
            <a:ext cx="4020111" cy="1209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5B89E-3AA6-2D6A-DA5D-DE3AE021E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673" y="2093016"/>
            <a:ext cx="3514273" cy="1228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D9A172-B8AE-FF8F-4265-C31DFC168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55" y="3321912"/>
            <a:ext cx="3336991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8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72B4">
            <a:alpha val="4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CE420-F0E0-82B5-F255-29D8D5DF9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1B7535-D79F-358F-5D6D-EC629C1275BF}"/>
              </a:ext>
            </a:extLst>
          </p:cNvPr>
          <p:cNvSpPr txBox="1"/>
          <p:nvPr/>
        </p:nvSpPr>
        <p:spPr>
          <a:xfrm>
            <a:off x="174691" y="211208"/>
            <a:ext cx="714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4DC7"/>
                </a:solidFill>
              </a:rPr>
              <a:t>Conclusion</a:t>
            </a:r>
            <a:endParaRPr lang="lt-LT" sz="3600" b="1" dirty="0">
              <a:solidFill>
                <a:srgbClr val="0B4D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628BD-68EB-FA8B-E282-8062D5B059D1}"/>
              </a:ext>
            </a:extLst>
          </p:cNvPr>
          <p:cNvSpPr txBox="1"/>
          <p:nvPr/>
        </p:nvSpPr>
        <p:spPr>
          <a:xfrm>
            <a:off x="565266" y="6353557"/>
            <a:ext cx="3857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Sparse R-CNN Object Detection</a:t>
            </a:r>
            <a:endParaRPr lang="lt-LT" sz="11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08CDA4-B09D-B985-81BF-DA5B75F3EFA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946" y="6310968"/>
            <a:ext cx="346788" cy="34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526947-AC12-2F23-C585-AF74A9ECE166}"/>
              </a:ext>
            </a:extLst>
          </p:cNvPr>
          <p:cNvSpPr txBox="1"/>
          <p:nvPr/>
        </p:nvSpPr>
        <p:spPr>
          <a:xfrm>
            <a:off x="174691" y="1965534"/>
            <a:ext cx="68183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Fully sparse, end-to-end detector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Removes anchors, RPN, NMS,  label assignment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Strong accuracy + fast convergence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Opens the door for sparse detection methods</a:t>
            </a:r>
          </a:p>
        </p:txBody>
      </p:sp>
    </p:spTree>
    <p:extLst>
      <p:ext uri="{BB962C8B-B14F-4D97-AF65-F5344CB8AC3E}">
        <p14:creationId xmlns:p14="http://schemas.microsoft.com/office/powerpoint/2010/main" val="3590423300"/>
      </p:ext>
    </p:extLst>
  </p:cSld>
  <p:clrMapOvr>
    <a:masterClrMapping/>
  </p:clrMapOvr>
</p:sld>
</file>

<file path=ppt/theme/theme1.xml><?xml version="1.0" encoding="utf-8"?>
<a:theme xmlns:a="http://schemas.openxmlformats.org/drawingml/2006/main" name="Vilnius_Tech_blue_E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413D"/>
      </a:accent1>
      <a:accent2>
        <a:srgbClr val="FEBF3E"/>
      </a:accent2>
      <a:accent3>
        <a:srgbClr val="A5A5A5"/>
      </a:accent3>
      <a:accent4>
        <a:srgbClr val="F68B28"/>
      </a:accent4>
      <a:accent5>
        <a:srgbClr val="BDCCD4"/>
      </a:accent5>
      <a:accent6>
        <a:srgbClr val="BDCCD4"/>
      </a:accent6>
      <a:hlink>
        <a:srgbClr val="8672B4"/>
      </a:hlink>
      <a:folHlink>
        <a:srgbClr val="00DD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lnius_Tech_blue_EN" id="{4195F9F4-F3FA-4848-9435-13E275511E9E}" vid="{D8DA613A-126F-4E21-97CA-4A820A2108F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51824ea4-e0ca-43f3-928c-2e9890705e6b">VGTU-9-614</_dlc_DocId>
    <_dlc_DocIdUrl xmlns="51824ea4-e0ca-43f3-928c-2e9890705e6b">
      <Url>http://intranetas.vgtu.lt/_layouts/15/DocIdRedir.aspx?ID=VGTU-9-614</Url>
      <Description>VGTU-9-614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8FBFEA34980E4792663D1E76E48821" ma:contentTypeVersion="3" ma:contentTypeDescription="Create a new document." ma:contentTypeScope="" ma:versionID="314c347630d125b48607315b202155f0">
  <xsd:schema xmlns:xsd="http://www.w3.org/2001/XMLSchema" xmlns:xs="http://www.w3.org/2001/XMLSchema" xmlns:p="http://schemas.microsoft.com/office/2006/metadata/properties" xmlns:ns2="51824ea4-e0ca-43f3-928c-2e9890705e6b" targetNamespace="http://schemas.microsoft.com/office/2006/metadata/properties" ma:root="true" ma:fieldsID="c72bc41fe48e08a0a02aac0e8dce7012" ns2:_="">
    <xsd:import namespace="51824ea4-e0ca-43f3-928c-2e9890705e6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24ea4-e0ca-43f3-928c-2e9890705e6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8C2091-8AC9-4388-86FA-1FA395FC5BBE}">
  <ds:schemaRefs>
    <ds:schemaRef ds:uri="http://schemas.openxmlformats.org/package/2006/metadata/core-properties"/>
    <ds:schemaRef ds:uri="http://purl.org/dc/terms/"/>
    <ds:schemaRef ds:uri="51824ea4-e0ca-43f3-928c-2e9890705e6b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1DB714A-D133-42D1-8782-E4872E270CA6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D53EF52F-26C9-4872-87A5-14DF0379C67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E5E5DA0-4FCA-43E4-84F0-422EAFE4F1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824ea4-e0ca-43f3-928c-2e9890705e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325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Vilnius_Tech_blue_EN</vt:lpstr>
      <vt:lpstr>Sparse R-CNN Object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Arnas Švedas</dc:creator>
  <cp:lastModifiedBy>Ozan Berk Gultegin</cp:lastModifiedBy>
  <cp:revision>74</cp:revision>
  <dcterms:created xsi:type="dcterms:W3CDTF">2020-08-24T11:29:50Z</dcterms:created>
  <dcterms:modified xsi:type="dcterms:W3CDTF">2025-11-28T16:40:30Z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0x0101003D8FBFEA34980E4792663D1E76E48821</vt:lpwstr>
  </property>
  <property fmtid="{D5CDD505-2E9C-101B-9397-08002B2CF9AE}" pid="3" name="_dlc_DocIdItemGuid">
    <vt:lpwstr>662e88e2-2809-4ff7-8a82-4e5379bb5147</vt:lpwstr>
  </property>
</Properties>
</file>